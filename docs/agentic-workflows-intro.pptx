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988552" y="0"/>
            <a:ext cx="3200400" cy="685800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970264" y="0"/>
            <a:ext cx="27432" cy="6858000"/>
          </a:xfrm>
          <a:prstGeom prst="rect">
            <a:avLst/>
          </a:prstGeom>
          <a:solidFill>
            <a:srgbClr val="303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45752" y="1645920"/>
            <a:ext cx="2286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0" b="0" i="0">
                <a:solidFill>
                  <a:srgbClr val="30363D"/>
                </a:solidFill>
              </a:rPr>
              <a:t>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45752" y="320040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8B949E"/>
                </a:solidFill>
              </a:rPr>
              <a:t>GitHub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645920"/>
            <a:ext cx="83484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E6EDF3"/>
                </a:solidFill>
              </a:rPr>
              <a:t>GitHub Agentic Workflows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514600"/>
            <a:ext cx="83484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58A6FF"/>
                </a:solidFill>
              </a:rPr>
              <a:t>An Introduction to Continuous AI in Your Repository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063240"/>
            <a:ext cx="83484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8B949E"/>
                </a:solidFill>
              </a:rPr>
              <a:t>Automate the un-automatable with AI-powered workflows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3794760"/>
            <a:ext cx="2148840" cy="41148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822191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6EDF3"/>
                </a:solidFill>
              </a:rPr>
              <a:t>⚙  CI / CD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834640" y="3794760"/>
            <a:ext cx="2148840" cy="41148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26080" y="3822191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6EDF3"/>
                </a:solidFill>
              </a:rPr>
              <a:t>🤖  Continuous AI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66360" y="3794760"/>
            <a:ext cx="2148840" cy="41148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57800" y="3822191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6EDF3"/>
                </a:solidFill>
              </a:rPr>
              <a:t>📝  Natural Language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98080" y="3794760"/>
            <a:ext cx="2148840" cy="41148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89520" y="3822191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6EDF3"/>
                </a:solidFill>
              </a:rPr>
              <a:t>🔒  Built-in Security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6446520"/>
            <a:ext cx="12188952" cy="18288"/>
          </a:xfrm>
          <a:prstGeom prst="rect">
            <a:avLst/>
          </a:prstGeom>
          <a:solidFill>
            <a:srgbClr val="303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6510528"/>
            <a:ext cx="114574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B949E"/>
                </a:solidFill>
              </a:rPr>
              <a:t>github.github.com/gh-aw   ·   githubnext.com/projects/continuous-ai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"/>
            <a:ext cx="12188952" cy="27432"/>
          </a:xfrm>
          <a:prstGeom prst="rect">
            <a:avLst/>
          </a:prstGeom>
          <a:solidFill>
            <a:srgbClr val="303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4864" cy="658368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4592" y="128016"/>
            <a:ext cx="548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8A6FF"/>
                </a:solidFill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09728"/>
            <a:ext cx="1141171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E6EDF3"/>
                </a:solidFill>
              </a:rPr>
              <a:t>Agenda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446520"/>
            <a:ext cx="12188952" cy="18288"/>
          </a:xfrm>
          <a:prstGeom prst="rect">
            <a:avLst/>
          </a:prstGeom>
          <a:solidFill>
            <a:srgbClr val="303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10528"/>
            <a:ext cx="114574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B949E"/>
                </a:solidFill>
              </a:rPr>
              <a:t>github.github.com/gh-aw   ·   githubnext.com/projects/continuous-ai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914400"/>
            <a:ext cx="5500116" cy="658368"/>
          </a:xfrm>
          <a:prstGeom prst="rect">
            <a:avLst/>
          </a:prstGeom>
          <a:solidFill>
            <a:srgbClr val="161B22"/>
          </a:solidFill>
          <a:ln w="12700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914400"/>
            <a:ext cx="54864" cy="658368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1033272"/>
            <a:ext cx="365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FB950"/>
                </a:solidFill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1069848"/>
            <a:ext cx="490575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6EDF3"/>
                </a:solidFill>
              </a:rPr>
              <a:t>What Are Agentic Workflows?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1636" y="914400"/>
            <a:ext cx="5500116" cy="658368"/>
          </a:xfrm>
          <a:prstGeom prst="rect">
            <a:avLst/>
          </a:prstGeom>
          <a:solidFill>
            <a:srgbClr val="161B22"/>
          </a:solidFill>
          <a:ln w="12700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31636" y="914400"/>
            <a:ext cx="54864" cy="658368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68796" y="1033272"/>
            <a:ext cx="365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58A6FF"/>
                </a:solidFill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07124" y="1069848"/>
            <a:ext cx="490575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6EDF3"/>
                </a:solidFill>
              </a:rPr>
              <a:t>The Concept of Continuous AI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1682496"/>
            <a:ext cx="5500116" cy="658368"/>
          </a:xfrm>
          <a:prstGeom prst="rect">
            <a:avLst/>
          </a:prstGeom>
          <a:solidFill>
            <a:srgbClr val="161B22"/>
          </a:solidFill>
          <a:ln w="12700">
            <a:solidFill>
              <a:srgbClr val="A371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1682496"/>
            <a:ext cx="54864" cy="658368"/>
          </a:xfrm>
          <a:prstGeom prst="rect">
            <a:avLst/>
          </a:prstGeom>
          <a:solidFill>
            <a:srgbClr val="A371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1801368"/>
            <a:ext cx="365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A371F7"/>
                </a:solidFill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1837944"/>
            <a:ext cx="490575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6EDF3"/>
                </a:solidFill>
              </a:rPr>
              <a:t>How Agentic Workflows Work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1682496"/>
            <a:ext cx="5500116" cy="658368"/>
          </a:xfrm>
          <a:prstGeom prst="rect">
            <a:avLst/>
          </a:prstGeom>
          <a:solidFill>
            <a:srgbClr val="161B22"/>
          </a:solidFill>
          <a:ln w="12700">
            <a:solidFill>
              <a:srgbClr val="DB6D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1682496"/>
            <a:ext cx="54864" cy="658368"/>
          </a:xfrm>
          <a:prstGeom prst="rect">
            <a:avLst/>
          </a:prstGeom>
          <a:solidFill>
            <a:srgbClr val="DB6D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68796" y="1801368"/>
            <a:ext cx="365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DB6D28"/>
                </a:solidFill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07124" y="1837944"/>
            <a:ext cx="490575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6EDF3"/>
                </a:solidFill>
              </a:rPr>
              <a:t>Key Use Cases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2450592"/>
            <a:ext cx="5500116" cy="658368"/>
          </a:xfrm>
          <a:prstGeom prst="rect">
            <a:avLst/>
          </a:prstGeom>
          <a:solidFill>
            <a:srgbClr val="161B22"/>
          </a:solidFill>
          <a:ln w="12700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7200" y="2450592"/>
            <a:ext cx="54864" cy="658368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2569464"/>
            <a:ext cx="365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FB950"/>
                </a:solidFill>
              </a:rP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2688" y="2606040"/>
            <a:ext cx="490575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6EDF3"/>
                </a:solidFill>
              </a:rPr>
              <a:t>Security &amp; Guardrails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31636" y="2450592"/>
            <a:ext cx="5500116" cy="658368"/>
          </a:xfrm>
          <a:prstGeom prst="rect">
            <a:avLst/>
          </a:prstGeom>
          <a:solidFill>
            <a:srgbClr val="161B22"/>
          </a:solidFill>
          <a:ln w="12700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31636" y="2450592"/>
            <a:ext cx="54864" cy="658368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68796" y="2569464"/>
            <a:ext cx="365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58A6FF"/>
                </a:solidFill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07124" y="2606040"/>
            <a:ext cx="490575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6EDF3"/>
                </a:solidFill>
              </a:rPr>
              <a:t>Setting Up Your First Agentic Workflow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3218688"/>
            <a:ext cx="5500116" cy="658368"/>
          </a:xfrm>
          <a:prstGeom prst="rect">
            <a:avLst/>
          </a:prstGeom>
          <a:solidFill>
            <a:srgbClr val="161B22"/>
          </a:solidFill>
          <a:ln w="12700">
            <a:solidFill>
              <a:srgbClr val="A371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57200" y="3218688"/>
            <a:ext cx="54864" cy="658368"/>
          </a:xfrm>
          <a:prstGeom prst="rect">
            <a:avLst/>
          </a:prstGeom>
          <a:solidFill>
            <a:srgbClr val="A371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94360" y="3337560"/>
            <a:ext cx="365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A371F7"/>
                </a:solidFill>
              </a:rPr>
              <a:t>07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2688" y="3374136"/>
            <a:ext cx="490575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6EDF3"/>
                </a:solidFill>
              </a:rPr>
              <a:t>CLI Command Reference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31636" y="3218688"/>
            <a:ext cx="5500116" cy="658368"/>
          </a:xfrm>
          <a:prstGeom prst="rect">
            <a:avLst/>
          </a:prstGeom>
          <a:solidFill>
            <a:srgbClr val="161B22"/>
          </a:solidFill>
          <a:ln w="12700">
            <a:solidFill>
              <a:srgbClr val="DB6D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231636" y="3218688"/>
            <a:ext cx="54864" cy="658368"/>
          </a:xfrm>
          <a:prstGeom prst="rect">
            <a:avLst/>
          </a:prstGeom>
          <a:solidFill>
            <a:srgbClr val="DB6D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68796" y="3337560"/>
            <a:ext cx="365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DB6D28"/>
                </a:solidFill>
              </a:rPr>
              <a:t>08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707124" y="3374136"/>
            <a:ext cx="490575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6EDF3"/>
                </a:solidFill>
              </a:rPr>
              <a:t>Resources &amp; Further Reading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"/>
            <a:ext cx="12188952" cy="27432"/>
          </a:xfrm>
          <a:prstGeom prst="rect">
            <a:avLst/>
          </a:prstGeom>
          <a:solidFill>
            <a:srgbClr val="303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4864" cy="658368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4592" y="128016"/>
            <a:ext cx="548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FB950"/>
                </a:solidFill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09728"/>
            <a:ext cx="1141171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E6EDF3"/>
                </a:solidFill>
              </a:rPr>
              <a:t>What Are Agentic Workflows?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446520"/>
            <a:ext cx="12188952" cy="18288"/>
          </a:xfrm>
          <a:prstGeom prst="rect">
            <a:avLst/>
          </a:prstGeom>
          <a:solidFill>
            <a:srgbClr val="303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10528"/>
            <a:ext cx="114574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B949E"/>
                </a:solidFill>
              </a:rPr>
              <a:t>github.github.com/gh-aw   ·   githubnext.com/projects/continuous-ai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9144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E6EDF3"/>
                </a:solidFill>
              </a:rPr>
              <a:t>Agentic Workflows let you define repository automation as natural language instructions — rather than fixed scripts or YAML — and have an AI agent act on them.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618488"/>
            <a:ext cx="5500116" cy="1298448"/>
          </a:xfrm>
          <a:prstGeom prst="rect">
            <a:avLst/>
          </a:prstGeom>
          <a:solidFill>
            <a:srgbClr val="161B22"/>
          </a:solidFill>
          <a:ln w="12700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1618488"/>
            <a:ext cx="5500116" cy="36576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" y="1728216"/>
            <a:ext cx="522579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58A6FF"/>
                </a:solidFill>
              </a:rPr>
              <a:t>Natural language programming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2121408"/>
            <a:ext cx="5225796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6EDF3"/>
                </a:solidFill>
              </a:rPr>
              <a:t>Describe the desired behavior in plain English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31636" y="1618488"/>
            <a:ext cx="5500116" cy="1298448"/>
          </a:xfrm>
          <a:prstGeom prst="rect">
            <a:avLst/>
          </a:prstGeom>
          <a:solidFill>
            <a:srgbClr val="161B22"/>
          </a:solidFill>
          <a:ln w="12700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31636" y="1618488"/>
            <a:ext cx="5500116" cy="36576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96228" y="1728216"/>
            <a:ext cx="522579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58A6FF"/>
                </a:solidFill>
              </a:rPr>
              <a:t>AI reasoning &amp; adaptation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96228" y="2121408"/>
            <a:ext cx="5225796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6EDF3"/>
                </a:solidFill>
              </a:rPr>
              <a:t>Agents interpret your intent and adapt to repo context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081528"/>
            <a:ext cx="5500116" cy="1298448"/>
          </a:xfrm>
          <a:prstGeom prst="rect">
            <a:avLst/>
          </a:prstGeom>
          <a:solidFill>
            <a:srgbClr val="161B22"/>
          </a:solidFill>
          <a:ln w="12700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3081528"/>
            <a:ext cx="5500116" cy="36576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1792" y="3191256"/>
            <a:ext cx="522579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58A6FF"/>
                </a:solidFill>
              </a:rPr>
              <a:t>GitHub Actions integration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" y="3584448"/>
            <a:ext cx="5225796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6EDF3"/>
                </a:solidFill>
              </a:rPr>
              <a:t>Compiled to standard Actions workflows with full logging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31636" y="3081528"/>
            <a:ext cx="5500116" cy="1298448"/>
          </a:xfrm>
          <a:prstGeom prst="rect">
            <a:avLst/>
          </a:prstGeom>
          <a:solidFill>
            <a:srgbClr val="161B22"/>
          </a:solidFill>
          <a:ln w="12700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31636" y="3081528"/>
            <a:ext cx="5500116" cy="36576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96228" y="3191256"/>
            <a:ext cx="522579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58A6FF"/>
                </a:solidFill>
              </a:rPr>
              <a:t>Security built-in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96228" y="3584448"/>
            <a:ext cx="5225796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6EDF3"/>
                </a:solidFill>
              </a:rPr>
              <a:t>Read-only tokens, network restrictions, and safe outputs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"/>
            <a:ext cx="12188952" cy="27432"/>
          </a:xfrm>
          <a:prstGeom prst="rect">
            <a:avLst/>
          </a:prstGeom>
          <a:solidFill>
            <a:srgbClr val="303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4864" cy="658368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4592" y="128016"/>
            <a:ext cx="548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8A6FF"/>
                </a:solidFill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09728"/>
            <a:ext cx="1141171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E6EDF3"/>
                </a:solidFill>
              </a:rPr>
              <a:t>The Concept of Continuous AI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446520"/>
            <a:ext cx="12188952" cy="18288"/>
          </a:xfrm>
          <a:prstGeom prst="rect">
            <a:avLst/>
          </a:prstGeom>
          <a:solidFill>
            <a:srgbClr val="303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10528"/>
            <a:ext cx="114574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B949E"/>
                </a:solidFill>
              </a:rPr>
              <a:t>github.github.com/gh-aw   ·   githubnext.com/projects/continuous-ai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914400"/>
            <a:ext cx="11274552" cy="1645920"/>
          </a:xfrm>
          <a:prstGeom prst="rect">
            <a:avLst/>
          </a:prstGeom>
          <a:solidFill>
            <a:srgbClr val="161B22"/>
          </a:solidFill>
          <a:ln w="19050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914400"/>
            <a:ext cx="11274552" cy="36576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005840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58A6FF"/>
                </a:solidFill>
              </a:rPr>
              <a:t>What is Continuous AI?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1463040"/>
            <a:ext cx="10908792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6EDF3"/>
                </a:solidFill>
              </a:rPr>
              <a:t>Continuous AI is a new practice from GitHub that adds AI agents to the automated feedback loop of a repository. Like CI runs builds and tests on every push, Continuous AI runs AI agents on every relevant event — triaging issues, updating docs, and improving tests. Agents work in plain English, and every decision surfaces as a PR or issue for human review.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54203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8B949E"/>
                </a:solidFill>
              </a:rPr>
              <a:t>How does it compare to CI/CD?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816352"/>
            <a:ext cx="5500116" cy="3520440"/>
          </a:xfrm>
          <a:prstGeom prst="rect">
            <a:avLst/>
          </a:prstGeom>
          <a:solidFill>
            <a:srgbClr val="161B22"/>
          </a:solidFill>
          <a:ln w="12700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2816352"/>
            <a:ext cx="5500116" cy="36576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2907792"/>
            <a:ext cx="522579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3FB950"/>
                </a:solidFill>
              </a:rPr>
              <a:t>CI / CD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" y="3346704"/>
            <a:ext cx="5225796" cy="288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400">
                <a:solidFill>
                  <a:srgbClr val="E6EDF3"/>
                </a:solidFill>
              </a:rPr>
              <a:t>  •  Deterministic — same input, same output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E6EDF3"/>
                </a:solidFill>
              </a:rPr>
              <a:t>  •  Build → Test → Deploy pipelines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E6EDF3"/>
                </a:solidFill>
              </a:rPr>
              <a:t>  •  Written in YAML / shell scripts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E6EDF3"/>
                </a:solidFill>
              </a:rPr>
              <a:t>  •  Great for repeatable, predictable tasks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31636" y="2816352"/>
            <a:ext cx="5500116" cy="3520440"/>
          </a:xfrm>
          <a:prstGeom prst="rect">
            <a:avLst/>
          </a:prstGeom>
          <a:solidFill>
            <a:srgbClr val="161B22"/>
          </a:solidFill>
          <a:ln w="12700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31636" y="2816352"/>
            <a:ext cx="5500116" cy="36576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96228" y="2907792"/>
            <a:ext cx="522579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58A6FF"/>
                </a:solidFill>
              </a:rPr>
              <a:t>Continuous AI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96228" y="3346704"/>
            <a:ext cx="5225796" cy="288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400">
                <a:solidFill>
                  <a:srgbClr val="E6EDF3"/>
                </a:solidFill>
              </a:rPr>
              <a:t>  •  Judgment-driven — context-aware output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E6EDF3"/>
                </a:solidFill>
              </a:rPr>
              <a:t>  •  Triage → Document → Investigate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E6EDF3"/>
                </a:solidFill>
              </a:rPr>
              <a:t>  •  Written in plain English Markdown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E6EDF3"/>
                </a:solidFill>
              </a:rPr>
              <a:t>  •  Great for tasks that resist scripting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"/>
            <a:ext cx="12188952" cy="27432"/>
          </a:xfrm>
          <a:prstGeom prst="rect">
            <a:avLst/>
          </a:prstGeom>
          <a:solidFill>
            <a:srgbClr val="303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4864" cy="658368"/>
          </a:xfrm>
          <a:prstGeom prst="rect">
            <a:avLst/>
          </a:prstGeom>
          <a:solidFill>
            <a:srgbClr val="A371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4592" y="128016"/>
            <a:ext cx="548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A371F7"/>
                </a:solidFill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09728"/>
            <a:ext cx="1141171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E6EDF3"/>
                </a:solidFill>
              </a:rPr>
              <a:t>How Agentic Workflows Work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446520"/>
            <a:ext cx="12188952" cy="18288"/>
          </a:xfrm>
          <a:prstGeom prst="rect">
            <a:avLst/>
          </a:prstGeom>
          <a:solidFill>
            <a:srgbClr val="303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10528"/>
            <a:ext cx="114574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B949E"/>
                </a:solidFill>
              </a:rPr>
              <a:t>github.github.com/gh-aw   ·   githubnext.com/projects/continuous-ai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841248"/>
            <a:ext cx="2715768" cy="5495544"/>
          </a:xfrm>
          <a:prstGeom prst="rect">
            <a:avLst/>
          </a:prstGeom>
          <a:solidFill>
            <a:srgbClr val="161B22"/>
          </a:solidFill>
          <a:ln w="12700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841248"/>
            <a:ext cx="2715768" cy="36576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932688"/>
            <a:ext cx="253288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58A6FF"/>
                </a:solidFill>
              </a:rPr>
              <a:t>1  Define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1389888"/>
            <a:ext cx="2532888" cy="4718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6EDF3"/>
                </a:solidFill>
              </a:rPr>
              <a:t>Write an automation intent as a Markdown file in plain English. Frontmatter YAML specifies triggers, permissions, and the AI agent to use.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91256" y="3360420"/>
            <a:ext cx="12801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B949E"/>
                </a:solidFill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10128" y="841248"/>
            <a:ext cx="2715768" cy="5495544"/>
          </a:xfrm>
          <a:prstGeom prst="rect">
            <a:avLst/>
          </a:prstGeom>
          <a:solidFill>
            <a:srgbClr val="161B22"/>
          </a:solidFill>
          <a:ln w="12700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10128" y="841248"/>
            <a:ext cx="2715768" cy="36576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19856" y="932688"/>
            <a:ext cx="253288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3FB950"/>
                </a:solidFill>
              </a:rPr>
              <a:t>2  Compile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19856" y="1389888"/>
            <a:ext cx="2532888" cy="4718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6EDF3"/>
                </a:solidFill>
              </a:rPr>
              <a:t>The gh-aw CLI converts the Markdown file into a standard GitHub Actions YAML workflow, retaining full versioning and audit logging.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44184" y="3360420"/>
            <a:ext cx="12801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B949E"/>
                </a:solidFill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63056" y="841248"/>
            <a:ext cx="2715768" cy="5495544"/>
          </a:xfrm>
          <a:prstGeom prst="rect">
            <a:avLst/>
          </a:prstGeom>
          <a:solidFill>
            <a:srgbClr val="161B22"/>
          </a:solidFill>
          <a:ln w="12700">
            <a:solidFill>
              <a:srgbClr val="A371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63056" y="841248"/>
            <a:ext cx="2715768" cy="36576"/>
          </a:xfrm>
          <a:prstGeom prst="rect">
            <a:avLst/>
          </a:prstGeom>
          <a:solidFill>
            <a:srgbClr val="A371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2784" y="932688"/>
            <a:ext cx="253288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A371F7"/>
                </a:solidFill>
              </a:rPr>
              <a:t>3  Execute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72784" y="1389888"/>
            <a:ext cx="2532888" cy="4718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6EDF3"/>
                </a:solidFill>
              </a:rPr>
              <a:t>The workflow runs on repository events or schedules, invoking the chosen AI agent (Copilot, Claude, or Codex) in a sandboxed container.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97112" y="3360420"/>
            <a:ext cx="12801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B949E"/>
                </a:solidFill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15984" y="841248"/>
            <a:ext cx="2715768" cy="5495544"/>
          </a:xfrm>
          <a:prstGeom prst="rect">
            <a:avLst/>
          </a:prstGeom>
          <a:solidFill>
            <a:srgbClr val="161B22"/>
          </a:solidFill>
          <a:ln w="12700">
            <a:solidFill>
              <a:srgbClr val="DB6D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015984" y="841248"/>
            <a:ext cx="2715768" cy="36576"/>
          </a:xfrm>
          <a:prstGeom prst="rect">
            <a:avLst/>
          </a:prstGeom>
          <a:solidFill>
            <a:srgbClr val="DB6D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25712" y="932688"/>
            <a:ext cx="253288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DB6D28"/>
                </a:solidFill>
              </a:rPr>
              <a:t>4  Review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25712" y="1389888"/>
            <a:ext cx="2532888" cy="4718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6EDF3"/>
                </a:solidFill>
              </a:rPr>
              <a:t>Agent decisions surface as pull requests or issues. Human maintainers review and approve before any code is merged or settings changed.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"/>
            <a:ext cx="12188952" cy="27432"/>
          </a:xfrm>
          <a:prstGeom prst="rect">
            <a:avLst/>
          </a:prstGeom>
          <a:solidFill>
            <a:srgbClr val="303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4864" cy="658368"/>
          </a:xfrm>
          <a:prstGeom prst="rect">
            <a:avLst/>
          </a:prstGeom>
          <a:solidFill>
            <a:srgbClr val="DB6D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4592" y="128016"/>
            <a:ext cx="548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DB6D28"/>
                </a:solidFill>
              </a:rP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09728"/>
            <a:ext cx="1141171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E6EDF3"/>
                </a:solidFill>
              </a:rPr>
              <a:t>Key Use Cases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446520"/>
            <a:ext cx="12188952" cy="18288"/>
          </a:xfrm>
          <a:prstGeom prst="rect">
            <a:avLst/>
          </a:prstGeom>
          <a:solidFill>
            <a:srgbClr val="303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10528"/>
            <a:ext cx="114574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B949E"/>
                </a:solidFill>
              </a:rPr>
              <a:t>github.github.com/gh-aw   ·   githubnext.com/projects/continuous-ai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859536"/>
            <a:ext cx="3666744" cy="2688336"/>
          </a:xfrm>
          <a:prstGeom prst="rect">
            <a:avLst/>
          </a:prstGeom>
          <a:solidFill>
            <a:srgbClr val="161B22"/>
          </a:solidFill>
          <a:ln w="12700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859536"/>
            <a:ext cx="3666744" cy="36576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950976"/>
            <a:ext cx="348386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FB950"/>
                </a:solidFill>
              </a:rPr>
              <a:t>🗂  Continuous Triage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1371600"/>
            <a:ext cx="3483864" cy="2093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6EDF3"/>
                </a:solidFill>
              </a:rPr>
              <a:t>Automatically label and route new issues. Reduce toil by categorizing bug reports, feature requests, and questions.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61104" y="859536"/>
            <a:ext cx="3666744" cy="2688336"/>
          </a:xfrm>
          <a:prstGeom prst="rect">
            <a:avLst/>
          </a:prstGeom>
          <a:solidFill>
            <a:srgbClr val="161B22"/>
          </a:solidFill>
          <a:ln w="12700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61104" y="859536"/>
            <a:ext cx="3666744" cy="36576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70832" y="950976"/>
            <a:ext cx="348386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58A6FF"/>
                </a:solidFill>
              </a:rPr>
              <a:t>📄  Continuous Documentation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70832" y="1371600"/>
            <a:ext cx="3483864" cy="2093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6EDF3"/>
                </a:solidFill>
              </a:rPr>
              <a:t>Keep docs aligned as code changes. Detect drift and open PRs with suggested updates when APIs or behavior change.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65008" y="859536"/>
            <a:ext cx="3666744" cy="2688336"/>
          </a:xfrm>
          <a:prstGeom prst="rect">
            <a:avLst/>
          </a:prstGeom>
          <a:solidFill>
            <a:srgbClr val="161B22"/>
          </a:solidFill>
          <a:ln w="12700">
            <a:solidFill>
              <a:srgbClr val="A371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65008" y="859536"/>
            <a:ext cx="3666744" cy="36576"/>
          </a:xfrm>
          <a:prstGeom prst="rect">
            <a:avLst/>
          </a:prstGeom>
          <a:solidFill>
            <a:srgbClr val="A371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74736" y="950976"/>
            <a:ext cx="348386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A371F7"/>
                </a:solidFill>
              </a:rPr>
              <a:t>🧪  Test Improvement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74736" y="1371600"/>
            <a:ext cx="3483864" cy="2093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6EDF3"/>
                </a:solidFill>
              </a:rPr>
              <a:t>Identify coverage gaps and suggest new tests. Propose targeted tests for untested code paths and edge cases.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657600"/>
            <a:ext cx="3666744" cy="2688336"/>
          </a:xfrm>
          <a:prstGeom prst="rect">
            <a:avLst/>
          </a:prstGeom>
          <a:solidFill>
            <a:srgbClr val="161B22"/>
          </a:solidFill>
          <a:ln w="12700">
            <a:solidFill>
              <a:srgbClr val="DB6D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3657600"/>
            <a:ext cx="3666744" cy="36576"/>
          </a:xfrm>
          <a:prstGeom prst="rect">
            <a:avLst/>
          </a:prstGeom>
          <a:solidFill>
            <a:srgbClr val="DB6D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3749040"/>
            <a:ext cx="348386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DB6D28"/>
                </a:solidFill>
              </a:rPr>
              <a:t>🔍  Quality Hygiene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4169664"/>
            <a:ext cx="3483864" cy="2093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6EDF3"/>
                </a:solidFill>
              </a:rPr>
              <a:t>Investigate CI failures and propose fixes. Summarize flaky tests, dead code, and dependency drift.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61104" y="3657600"/>
            <a:ext cx="3666744" cy="2688336"/>
          </a:xfrm>
          <a:prstGeom prst="rect">
            <a:avLst/>
          </a:prstGeom>
          <a:solidFill>
            <a:srgbClr val="161B22"/>
          </a:solidFill>
          <a:ln w="12700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261104" y="3657600"/>
            <a:ext cx="3666744" cy="36576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370832" y="3749040"/>
            <a:ext cx="348386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FB950"/>
                </a:solidFill>
              </a:rPr>
              <a:t>📦  Dependency Management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70832" y="4169664"/>
            <a:ext cx="3483864" cy="2093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6EDF3"/>
                </a:solidFill>
              </a:rPr>
              <a:t>Review updates and summarize breaking changes, flagging security issues before they reach production.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65008" y="3657600"/>
            <a:ext cx="3666744" cy="2688336"/>
          </a:xfrm>
          <a:prstGeom prst="rect">
            <a:avLst/>
          </a:prstGeom>
          <a:solidFill>
            <a:srgbClr val="161B22"/>
          </a:solidFill>
          <a:ln w="12700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65008" y="3657600"/>
            <a:ext cx="3666744" cy="36576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74736" y="3749040"/>
            <a:ext cx="348386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58A6FF"/>
                </a:solidFill>
              </a:rPr>
              <a:t>💬  PR Summaries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74736" y="4169664"/>
            <a:ext cx="3483864" cy="2093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6EDF3"/>
                </a:solidFill>
              </a:rPr>
              <a:t>Generate clear pull-request summaries so reviewers quickly understand scope and intent of every change.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"/>
            <a:ext cx="12188952" cy="27432"/>
          </a:xfrm>
          <a:prstGeom prst="rect">
            <a:avLst/>
          </a:prstGeom>
          <a:solidFill>
            <a:srgbClr val="303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4864" cy="658368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4592" y="128016"/>
            <a:ext cx="548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FB950"/>
                </a:solidFill>
              </a:rPr>
              <a:t>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09728"/>
            <a:ext cx="1141171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E6EDF3"/>
                </a:solidFill>
              </a:rPr>
              <a:t>Security &amp; Guardrails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446520"/>
            <a:ext cx="12188952" cy="18288"/>
          </a:xfrm>
          <a:prstGeom prst="rect">
            <a:avLst/>
          </a:prstGeom>
          <a:solidFill>
            <a:srgbClr val="303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10528"/>
            <a:ext cx="114574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B949E"/>
                </a:solidFill>
              </a:rPr>
              <a:t>github.github.com/gh-aw   ·   githubnext.com/projects/continuous-ai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841248"/>
            <a:ext cx="11274552" cy="1075334"/>
          </a:xfrm>
          <a:prstGeom prst="rect">
            <a:avLst/>
          </a:prstGeom>
          <a:solidFill>
            <a:srgbClr val="161B22"/>
          </a:solidFill>
          <a:ln w="12700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841248"/>
            <a:ext cx="36576" cy="1075334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3504" y="877824"/>
            <a:ext cx="3200400" cy="10021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FB950"/>
                </a:solidFill>
              </a:rPr>
              <a:t>🔐  Read-only by Default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49040" y="877824"/>
            <a:ext cx="7936992" cy="10021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6EDF3"/>
                </a:solidFill>
              </a:rPr>
              <a:t>Agents cannot push code or open PRs directly. All writes go through 'safe outputs' — a whitelist separated from raw AI responses.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971446"/>
            <a:ext cx="11274552" cy="1075334"/>
          </a:xfrm>
          <a:prstGeom prst="rect">
            <a:avLst/>
          </a:prstGeom>
          <a:solidFill>
            <a:srgbClr val="161B22"/>
          </a:solidFill>
          <a:ln w="12700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1971446"/>
            <a:ext cx="36576" cy="1075334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3504" y="2008022"/>
            <a:ext cx="3200400" cy="10021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FB950"/>
                </a:solidFill>
              </a:rPr>
              <a:t>🧱  Sandboxed Containers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40" y="2008022"/>
            <a:ext cx="7936992" cy="10021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6EDF3"/>
                </a:solidFill>
              </a:rPr>
              <a:t>Workflows run inside containers with network firewalls, reducing the risk of credential exfiltration or supply-chain attacks.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101644"/>
            <a:ext cx="11274552" cy="1075334"/>
          </a:xfrm>
          <a:prstGeom prst="rect">
            <a:avLst/>
          </a:prstGeom>
          <a:solidFill>
            <a:srgbClr val="161B22"/>
          </a:solidFill>
          <a:ln w="12700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101644"/>
            <a:ext cx="36576" cy="1075334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3504" y="3138220"/>
            <a:ext cx="3200400" cy="10021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FB950"/>
                </a:solidFill>
              </a:rPr>
              <a:t>👤  Human-in-the-Loop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49040" y="3138220"/>
            <a:ext cx="7936992" cy="10021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6EDF3"/>
                </a:solidFill>
              </a:rPr>
              <a:t>Every consequential decision surfaces as a PR or issue that a human must review and approve before anything is merged or changed.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231843"/>
            <a:ext cx="11274552" cy="1075334"/>
          </a:xfrm>
          <a:prstGeom prst="rect">
            <a:avLst/>
          </a:prstGeom>
          <a:solidFill>
            <a:srgbClr val="161B22"/>
          </a:solidFill>
          <a:ln w="12700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4231843"/>
            <a:ext cx="36576" cy="1075334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3504" y="4268419"/>
            <a:ext cx="3200400" cy="10021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FB950"/>
                </a:solidFill>
              </a:rPr>
              <a:t>🔑  No Direct Secret Access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49040" y="4268419"/>
            <a:ext cx="7936992" cy="10021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6EDF3"/>
                </a:solidFill>
              </a:rPr>
              <a:t>Agents never see repository secrets. Secrets are injected only into the safe-output step after human review.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5362041"/>
            <a:ext cx="11274552" cy="1075334"/>
          </a:xfrm>
          <a:prstGeom prst="rect">
            <a:avLst/>
          </a:prstGeom>
          <a:solidFill>
            <a:srgbClr val="161B22"/>
          </a:solidFill>
          <a:ln w="12700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7200" y="5362041"/>
            <a:ext cx="36576" cy="1075334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03504" y="5398617"/>
            <a:ext cx="3200400" cy="10021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FB950"/>
                </a:solidFill>
              </a:rPr>
              <a:t>📋  Full Audit Trail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749040" y="5398617"/>
            <a:ext cx="7936992" cy="10021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6EDF3"/>
                </a:solidFill>
              </a:rPr>
              <a:t>Agentic workflows compile to standard Actions YAML, so every run is logged, versioned, and auditable — just like any other workflow.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"/>
            <a:ext cx="12188952" cy="27432"/>
          </a:xfrm>
          <a:prstGeom prst="rect">
            <a:avLst/>
          </a:prstGeom>
          <a:solidFill>
            <a:srgbClr val="303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4864" cy="658368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4592" y="128016"/>
            <a:ext cx="548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8A6FF"/>
                </a:solidFill>
              </a:rPr>
              <a:t>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09728"/>
            <a:ext cx="1141171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E6EDF3"/>
                </a:solidFill>
              </a:rPr>
              <a:t>Setting Up Your First Agentic Workflow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446520"/>
            <a:ext cx="12188952" cy="18288"/>
          </a:xfrm>
          <a:prstGeom prst="rect">
            <a:avLst/>
          </a:prstGeom>
          <a:solidFill>
            <a:srgbClr val="303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10528"/>
            <a:ext cx="114574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B949E"/>
                </a:solidFill>
              </a:rPr>
              <a:t>github.github.com/gh-aw   ·   githubnext.com/projects/continuous-ai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859536"/>
            <a:ext cx="2181758" cy="347472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896112"/>
            <a:ext cx="209031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1117"/>
                </a:solidFill>
              </a:rPr>
              <a:t>Step 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1207008"/>
            <a:ext cx="2181758" cy="5148072"/>
          </a:xfrm>
          <a:prstGeom prst="rect">
            <a:avLst/>
          </a:prstGeom>
          <a:solidFill>
            <a:srgbClr val="161B22"/>
          </a:solidFill>
          <a:ln w="12700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298448"/>
            <a:ext cx="204459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58A6FF"/>
                </a:solidFill>
              </a:rPr>
              <a:t>Prerequisites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728216"/>
            <a:ext cx="2044598" cy="45354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79C0FF"/>
                </a:solidFill>
              </a:rPr>
              <a:t>• GitHub repository with Actions enabled
• GitHub CLI (gh) v2.0.0+
• AI API key  (Copilot, Anthropic, or OpenAI)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30398" y="859536"/>
            <a:ext cx="2181758" cy="347472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803550" y="896112"/>
            <a:ext cx="209031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1117"/>
                </a:solidFill>
              </a:rPr>
              <a:t>Step 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30398" y="1207008"/>
            <a:ext cx="2181758" cy="5148072"/>
          </a:xfrm>
          <a:prstGeom prst="rect">
            <a:avLst/>
          </a:prstGeom>
          <a:solidFill>
            <a:srgbClr val="161B22"/>
          </a:solidFill>
          <a:ln w="12700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821838" y="1298448"/>
            <a:ext cx="204459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FB950"/>
                </a:solidFill>
              </a:rPr>
              <a:t>Install the CLI Extension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21838" y="1728216"/>
            <a:ext cx="2044598" cy="45354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79C0FF"/>
                </a:solidFill>
              </a:rPr>
              <a:t>gh extension install github/gh-aw
Verify:  gh aw --version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3596" y="859536"/>
            <a:ext cx="2181758" cy="347472"/>
          </a:xfrm>
          <a:prstGeom prst="rect">
            <a:avLst/>
          </a:prstGeom>
          <a:solidFill>
            <a:srgbClr val="A371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76748" y="896112"/>
            <a:ext cx="209031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1117"/>
                </a:solidFill>
              </a:rPr>
              <a:t>Step 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03596" y="1207008"/>
            <a:ext cx="2181758" cy="5148072"/>
          </a:xfrm>
          <a:prstGeom prst="rect">
            <a:avLst/>
          </a:prstGeom>
          <a:solidFill>
            <a:srgbClr val="161B22"/>
          </a:solidFill>
          <a:ln w="12700">
            <a:solidFill>
              <a:srgbClr val="A371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95036" y="1298448"/>
            <a:ext cx="204459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A371F7"/>
                </a:solidFill>
              </a:rPr>
              <a:t>Initialise the Repository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95036" y="1728216"/>
            <a:ext cx="2044598" cy="45354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79C0FF"/>
                </a:solidFill>
              </a:rPr>
              <a:t>cd your-repo
gh aw init
Creates .github/agents/ and sets up permissions.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276795" y="859536"/>
            <a:ext cx="2181758" cy="347472"/>
          </a:xfrm>
          <a:prstGeom prst="rect">
            <a:avLst/>
          </a:prstGeom>
          <a:solidFill>
            <a:srgbClr val="DB6D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49947" y="896112"/>
            <a:ext cx="209031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1117"/>
                </a:solidFill>
              </a:rPr>
              <a:t>Step 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276795" y="1207008"/>
            <a:ext cx="2181758" cy="5148072"/>
          </a:xfrm>
          <a:prstGeom prst="rect">
            <a:avLst/>
          </a:prstGeom>
          <a:solidFill>
            <a:srgbClr val="161B22"/>
          </a:solidFill>
          <a:ln w="12700">
            <a:solidFill>
              <a:srgbClr val="DB6D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68235" y="1298448"/>
            <a:ext cx="204459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DB6D28"/>
                </a:solidFill>
              </a:rPr>
              <a:t>Add a Sample Workflow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68235" y="1728216"/>
            <a:ext cx="2044598" cy="45354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79C0FF"/>
                </a:solidFill>
              </a:rPr>
              <a:t>gh aw add-wizard \
  githubnext/agentics/daily-repo-status
Wizard lets you choose your AI engine.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549993" y="859536"/>
            <a:ext cx="2181758" cy="347472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623145" y="896112"/>
            <a:ext cx="209031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1117"/>
                </a:solidFill>
              </a:rPr>
              <a:t>Step 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549993" y="1207008"/>
            <a:ext cx="2181758" cy="5148072"/>
          </a:xfrm>
          <a:prstGeom prst="rect">
            <a:avLst/>
          </a:prstGeom>
          <a:solidFill>
            <a:srgbClr val="161B22"/>
          </a:solidFill>
          <a:ln w="12700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641433" y="1298448"/>
            <a:ext cx="204459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FB950"/>
                </a:solidFill>
              </a:rPr>
              <a:t>Compile &amp; Run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41433" y="1728216"/>
            <a:ext cx="2044598" cy="45354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79C0FF"/>
                </a:solidFill>
              </a:rPr>
              <a:t>gh aw compile &lt;workflow-name&gt;
gh aw run   &lt;workflow-name&gt;
Check output in the Actions tab.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"/>
            <a:ext cx="12188952" cy="27432"/>
          </a:xfrm>
          <a:prstGeom prst="rect">
            <a:avLst/>
          </a:prstGeom>
          <a:solidFill>
            <a:srgbClr val="303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4864" cy="658368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4592" y="128016"/>
            <a:ext cx="548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8A6FF"/>
                </a:solidFill>
              </a:rPr>
              <a:t>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09728"/>
            <a:ext cx="1141171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E6EDF3"/>
                </a:solidFill>
              </a:rPr>
              <a:t>Anatomy of an Agentic Workflow File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446520"/>
            <a:ext cx="12188952" cy="18288"/>
          </a:xfrm>
          <a:prstGeom prst="rect">
            <a:avLst/>
          </a:prstGeom>
          <a:solidFill>
            <a:srgbClr val="303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10528"/>
            <a:ext cx="114574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B949E"/>
                </a:solidFill>
              </a:rPr>
              <a:t>github.github.com/gh-aw   ·   githubnext.com/projects/continuous-ai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859536"/>
            <a:ext cx="112745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B949E"/>
                </a:solidFill>
              </a:rPr>
              <a:t>📄  .github/workflows/triage.md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225296"/>
            <a:ext cx="6858000" cy="5148072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362456"/>
            <a:ext cx="6537960" cy="4919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79C0FF"/>
                </a:solidFill>
              </a:rPr>
              <a:t>---
name: Continuous Triage
on:
  issues:
    types: [opened]
agent: copilot
permissions:
  issues: write
safe_outputs:
  - add_label
  - add_comment
---
You are a helpful triage assistant.
Read the issue title and body, then:
1. Choose the best label: bug, feature,
   question, or docs.
2. Apply it with add_label.
3. Post a brief acknowledgement with
   add_comment.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35240" y="1225296"/>
            <a:ext cx="4233672" cy="1639824"/>
          </a:xfrm>
          <a:prstGeom prst="rect">
            <a:avLst/>
          </a:prstGeom>
          <a:solidFill>
            <a:srgbClr val="161B22"/>
          </a:solidFill>
          <a:ln w="12700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35240" y="1225296"/>
            <a:ext cx="36576" cy="1639824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63256" y="1298448"/>
            <a:ext cx="40507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8A6FF"/>
                </a:solidFill>
              </a:rPr>
              <a:t>Frontmatter YAML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63256" y="1664208"/>
            <a:ext cx="4050792" cy="1136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6EDF3"/>
                </a:solidFill>
              </a:rPr>
              <a:t>Defines the workflow name, trigger events, AI engine, GitHub permissions, and the safe outputs whitelist.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35240" y="2974848"/>
            <a:ext cx="4233672" cy="1639824"/>
          </a:xfrm>
          <a:prstGeom prst="rect">
            <a:avLst/>
          </a:prstGeom>
          <a:solidFill>
            <a:srgbClr val="161B22"/>
          </a:solidFill>
          <a:ln w="12700">
            <a:solidFill>
              <a:srgbClr val="A371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35240" y="2974848"/>
            <a:ext cx="36576" cy="1639824"/>
          </a:xfrm>
          <a:prstGeom prst="rect">
            <a:avLst/>
          </a:prstGeom>
          <a:solidFill>
            <a:srgbClr val="A371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63256" y="3048000"/>
            <a:ext cx="40507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A371F7"/>
                </a:solidFill>
              </a:rPr>
              <a:t>Agent Instructions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63256" y="3413760"/>
            <a:ext cx="4050792" cy="1136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6EDF3"/>
                </a:solidFill>
              </a:rPr>
              <a:t>Plain English Markdown body — the agent reads this and decides how to act. No scripting required.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35240" y="4724400"/>
            <a:ext cx="4233672" cy="1639824"/>
          </a:xfrm>
          <a:prstGeom prst="rect">
            <a:avLst/>
          </a:prstGeom>
          <a:solidFill>
            <a:srgbClr val="161B22"/>
          </a:solidFill>
          <a:ln w="12700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35240" y="4724400"/>
            <a:ext cx="36576" cy="1639824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63256" y="4797552"/>
            <a:ext cx="40507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FB950"/>
                </a:solidFill>
              </a:rPr>
              <a:t>Safe Outputs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63256" y="5163312"/>
            <a:ext cx="4050792" cy="1136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6EDF3"/>
                </a:solidFill>
              </a:rPr>
              <a:t>A whitelist of the only actions the agent may take. Nothing outside this list can be executed.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"/>
            <a:ext cx="12188952" cy="27432"/>
          </a:xfrm>
          <a:prstGeom prst="rect">
            <a:avLst/>
          </a:prstGeom>
          <a:solidFill>
            <a:srgbClr val="303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4864" cy="658368"/>
          </a:xfrm>
          <a:prstGeom prst="rect">
            <a:avLst/>
          </a:prstGeom>
          <a:solidFill>
            <a:srgbClr val="A371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4592" y="128016"/>
            <a:ext cx="548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A371F7"/>
                </a:solidFill>
              </a:rPr>
              <a:t>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09728"/>
            <a:ext cx="1141171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E6EDF3"/>
                </a:solidFill>
              </a:rPr>
              <a:t>CLI Command Reference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446520"/>
            <a:ext cx="12188952" cy="18288"/>
          </a:xfrm>
          <a:prstGeom prst="rect">
            <a:avLst/>
          </a:prstGeom>
          <a:solidFill>
            <a:srgbClr val="303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10528"/>
            <a:ext cx="114574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B949E"/>
                </a:solidFill>
              </a:rPr>
              <a:t>github.github.com/gh-aw   ·   githubnext.com/projects/continuous-ai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859536"/>
            <a:ext cx="5029200" cy="36576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596128" y="859536"/>
            <a:ext cx="6135624" cy="36576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91440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8B949E"/>
                </a:solidFill>
              </a:rPr>
              <a:t>Command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33288" y="914400"/>
            <a:ext cx="61356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8B949E"/>
                </a:solidFill>
              </a:rPr>
              <a:t>Description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225296"/>
            <a:ext cx="5029200" cy="569976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596128" y="1225296"/>
            <a:ext cx="6135624" cy="569976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1271016"/>
            <a:ext cx="4846320" cy="496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79C0FF"/>
                </a:solidFill>
              </a:rPr>
              <a:t>gh extension install github/gh-aw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33288" y="1271016"/>
            <a:ext cx="6044184" cy="496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6EDF3"/>
                </a:solidFill>
              </a:rPr>
              <a:t>Install the gh-aw CLI extension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1795272"/>
            <a:ext cx="5029200" cy="569976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596128" y="1795272"/>
            <a:ext cx="6135624" cy="569976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1840992"/>
            <a:ext cx="4846320" cy="496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79C0FF"/>
                </a:solidFill>
              </a:rPr>
              <a:t>gh aw init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33288" y="1840992"/>
            <a:ext cx="6044184" cy="496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6EDF3"/>
                </a:solidFill>
              </a:rPr>
              <a:t>Initialise agentic workflows in a repository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2365248"/>
            <a:ext cx="5029200" cy="569976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596128" y="2365248"/>
            <a:ext cx="6135624" cy="569976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2410968"/>
            <a:ext cx="4846320" cy="496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79C0FF"/>
                </a:solidFill>
              </a:rPr>
              <a:t>gh aw add-wizard &lt;workflow&gt;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33288" y="2410968"/>
            <a:ext cx="6044184" cy="496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6EDF3"/>
                </a:solidFill>
              </a:rPr>
              <a:t>Guided setup for a pre-built sample workflow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2935224"/>
            <a:ext cx="5029200" cy="569976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596128" y="2935224"/>
            <a:ext cx="6135624" cy="569976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2980944"/>
            <a:ext cx="4846320" cy="496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79C0FF"/>
                </a:solidFill>
              </a:rPr>
              <a:t>gh aw add &lt;workflow&gt;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733288" y="2980944"/>
            <a:ext cx="6044184" cy="496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6EDF3"/>
                </a:solidFill>
              </a:rPr>
              <a:t>Import a workflow non-interactively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3505200"/>
            <a:ext cx="5029200" cy="569976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596128" y="3505200"/>
            <a:ext cx="6135624" cy="569976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4360" y="3550920"/>
            <a:ext cx="4846320" cy="496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79C0FF"/>
                </a:solidFill>
              </a:rPr>
              <a:t>gh aw list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733288" y="3550920"/>
            <a:ext cx="6044184" cy="496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6EDF3"/>
                </a:solidFill>
              </a:rPr>
              <a:t>List all installed agentic workflows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4075176"/>
            <a:ext cx="5029200" cy="569976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596128" y="4075176"/>
            <a:ext cx="6135624" cy="569976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94360" y="4120896"/>
            <a:ext cx="4846320" cy="496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79C0FF"/>
                </a:solidFill>
              </a:rPr>
              <a:t>gh aw compile &lt;workflow&gt;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733288" y="4120896"/>
            <a:ext cx="6044184" cy="496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6EDF3"/>
                </a:solidFill>
              </a:rPr>
              <a:t>Compile a Markdown workflow to Actions YAML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4645152"/>
            <a:ext cx="5029200" cy="569976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596128" y="4645152"/>
            <a:ext cx="6135624" cy="569976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4360" y="4690872"/>
            <a:ext cx="4846320" cy="496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79C0FF"/>
                </a:solidFill>
              </a:rPr>
              <a:t>gh aw run &lt;workflow&gt;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733288" y="4690872"/>
            <a:ext cx="6044184" cy="496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6EDF3"/>
                </a:solidFill>
              </a:rPr>
              <a:t>Manually trigger an agentic workflow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5215128"/>
            <a:ext cx="5029200" cy="569976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596128" y="5215128"/>
            <a:ext cx="6135624" cy="569976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94360" y="5260848"/>
            <a:ext cx="4846320" cy="496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79C0FF"/>
                </a:solidFill>
              </a:rPr>
              <a:t>gh aw status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733288" y="5260848"/>
            <a:ext cx="6044184" cy="496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6EDF3"/>
                </a:solidFill>
              </a:rPr>
              <a:t>Check the current state of all workflows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" y="5785104"/>
            <a:ext cx="5029200" cy="569976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596128" y="5785104"/>
            <a:ext cx="6135624" cy="569976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94360" y="5830824"/>
            <a:ext cx="4846320" cy="496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79C0FF"/>
                </a:solidFill>
              </a:rPr>
              <a:t>gh aw upgrade &lt;workflow&gt;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733288" y="5830824"/>
            <a:ext cx="6044184" cy="496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6EDF3"/>
                </a:solidFill>
              </a:rPr>
              <a:t>Upgrade a workflow to the latest version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"/>
            <a:ext cx="12188952" cy="27432"/>
          </a:xfrm>
          <a:prstGeom prst="rect">
            <a:avLst/>
          </a:prstGeom>
          <a:solidFill>
            <a:srgbClr val="303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4864" cy="658368"/>
          </a:xfrm>
          <a:prstGeom prst="rect">
            <a:avLst/>
          </a:prstGeom>
          <a:solidFill>
            <a:srgbClr val="DB6D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4592" y="128016"/>
            <a:ext cx="548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DB6D28"/>
                </a:solidFill>
              </a:rPr>
              <a:t>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09728"/>
            <a:ext cx="1141171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E6EDF3"/>
                </a:solidFill>
              </a:rPr>
              <a:t>Resources &amp; Further Reading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446520"/>
            <a:ext cx="12188952" cy="18288"/>
          </a:xfrm>
          <a:prstGeom prst="rect">
            <a:avLst/>
          </a:prstGeom>
          <a:solidFill>
            <a:srgbClr val="303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10528"/>
            <a:ext cx="114574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B949E"/>
                </a:solidFill>
              </a:rPr>
              <a:t>github.github.com/gh-aw   ·   githubnext.com/projects/continuous-ai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841248"/>
            <a:ext cx="5500116" cy="1792224"/>
          </a:xfrm>
          <a:prstGeom prst="rect">
            <a:avLst/>
          </a:prstGeom>
          <a:solidFill>
            <a:srgbClr val="161B22"/>
          </a:solidFill>
          <a:ln w="12700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841248"/>
            <a:ext cx="36576" cy="1792224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896112"/>
            <a:ext cx="52989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58A6FF"/>
                </a:solidFill>
              </a:rPr>
              <a:t>🏠  Official Documentation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261872"/>
            <a:ext cx="529894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58A6FF"/>
                </a:solidFill>
              </a:rPr>
              <a:t>github.github.com/gh-aw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517904"/>
            <a:ext cx="5298948" cy="10424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B949E"/>
                </a:solidFill>
              </a:rPr>
              <a:t>Full reference, quick-start guide, CLI docs, and FAQ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31636" y="841248"/>
            <a:ext cx="5500116" cy="1792224"/>
          </a:xfrm>
          <a:prstGeom prst="rect">
            <a:avLst/>
          </a:prstGeom>
          <a:solidFill>
            <a:srgbClr val="161B22"/>
          </a:solidFill>
          <a:ln w="12700">
            <a:solidFill>
              <a:srgbClr val="A371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31636" y="841248"/>
            <a:ext cx="36576" cy="1792224"/>
          </a:xfrm>
          <a:prstGeom prst="rect">
            <a:avLst/>
          </a:prstGeom>
          <a:solidFill>
            <a:srgbClr val="A371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68796" y="896112"/>
            <a:ext cx="52989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A371F7"/>
                </a:solidFill>
              </a:rPr>
              <a:t>🔬  GitHub Next — Continuous AI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68796" y="1261872"/>
            <a:ext cx="529894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58A6FF"/>
                </a:solidFill>
              </a:rPr>
              <a:t>githubnext.com/projects/continuous-ai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8796" y="1517904"/>
            <a:ext cx="5298948" cy="10424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B949E"/>
                </a:solidFill>
              </a:rPr>
              <a:t>Research project page explaining the Continuous AI concept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724912"/>
            <a:ext cx="5500116" cy="1792224"/>
          </a:xfrm>
          <a:prstGeom prst="rect">
            <a:avLst/>
          </a:prstGeom>
          <a:solidFill>
            <a:srgbClr val="161B22"/>
          </a:solidFill>
          <a:ln w="12700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724912"/>
            <a:ext cx="36576" cy="1792224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2779776"/>
            <a:ext cx="52989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FB950"/>
                </a:solidFill>
              </a:rPr>
              <a:t>📖  GitHub Blog Announcement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3145536"/>
            <a:ext cx="529894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58A6FF"/>
                </a:solidFill>
              </a:rPr>
              <a:t>github.blog/ai-and-ml/automate-repository-tasks-with-github-agentic-workflows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3401568"/>
            <a:ext cx="5298948" cy="10424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B949E"/>
                </a:solidFill>
              </a:rPr>
              <a:t>Introducing Agentic Workflows — the original announcement post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31636" y="2724912"/>
            <a:ext cx="5500116" cy="1792224"/>
          </a:xfrm>
          <a:prstGeom prst="rect">
            <a:avLst/>
          </a:prstGeom>
          <a:solidFill>
            <a:srgbClr val="161B22"/>
          </a:solidFill>
          <a:ln w="12700">
            <a:solidFill>
              <a:srgbClr val="DB6D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31636" y="2724912"/>
            <a:ext cx="36576" cy="1792224"/>
          </a:xfrm>
          <a:prstGeom prst="rect">
            <a:avLst/>
          </a:prstGeom>
          <a:solidFill>
            <a:srgbClr val="DB6D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68796" y="2779776"/>
            <a:ext cx="52989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DB6D28"/>
                </a:solidFill>
              </a:rPr>
              <a:t>🛠  gh-aw GitHub Repository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68796" y="3145536"/>
            <a:ext cx="529894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58A6FF"/>
                </a:solidFill>
              </a:rPr>
              <a:t>github.com/github/gh-aw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68796" y="3401568"/>
            <a:ext cx="5298948" cy="10424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B949E"/>
                </a:solidFill>
              </a:rPr>
              <a:t>Source code, issues, and community contributions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4608576"/>
            <a:ext cx="5500116" cy="1792224"/>
          </a:xfrm>
          <a:prstGeom prst="rect">
            <a:avLst/>
          </a:prstGeom>
          <a:solidFill>
            <a:srgbClr val="161B22"/>
          </a:solidFill>
          <a:ln w="12700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200" y="4608576"/>
            <a:ext cx="36576" cy="1792224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4360" y="4663440"/>
            <a:ext cx="52989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58A6FF"/>
                </a:solidFill>
              </a:rPr>
              <a:t>📚  Quick Start Guide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5029200"/>
            <a:ext cx="529894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58A6FF"/>
                </a:solidFill>
              </a:rPr>
              <a:t>github.github.com/gh-aw/setup/quick-start/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" y="5285232"/>
            <a:ext cx="5298948" cy="10424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B949E"/>
                </a:solidFill>
              </a:rPr>
              <a:t>Step-by-step walkthrough to your first agentic workflow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31636" y="4608576"/>
            <a:ext cx="5500116" cy="1792224"/>
          </a:xfrm>
          <a:prstGeom prst="rect">
            <a:avLst/>
          </a:prstGeom>
          <a:solidFill>
            <a:srgbClr val="161B22"/>
          </a:solidFill>
          <a:ln w="12700">
            <a:solidFill>
              <a:srgbClr val="A371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231636" y="4608576"/>
            <a:ext cx="36576" cy="1792224"/>
          </a:xfrm>
          <a:prstGeom prst="rect">
            <a:avLst/>
          </a:prstGeom>
          <a:solidFill>
            <a:srgbClr val="A371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68796" y="4663440"/>
            <a:ext cx="52989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A371F7"/>
                </a:solidFill>
              </a:rPr>
              <a:t>⌨️  CLI Command Reference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68796" y="5029200"/>
            <a:ext cx="529894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58A6FF"/>
                </a:solidFill>
              </a:rPr>
              <a:t>github.github.com/gh-aw/setup/cli/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68796" y="5285232"/>
            <a:ext cx="5298948" cy="10424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B949E"/>
                </a:solidFill>
              </a:rPr>
              <a:t>Complete reference for all gh-aw CLI commands and flags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88552" y="0"/>
            <a:ext cx="3200400" cy="685800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970264" y="0"/>
            <a:ext cx="27432" cy="6858000"/>
          </a:xfrm>
          <a:prstGeom prst="rect">
            <a:avLst/>
          </a:prstGeom>
          <a:solidFill>
            <a:srgbClr val="303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371600"/>
            <a:ext cx="83484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E6EDF3"/>
                </a:solidFill>
              </a:rPr>
              <a:t>Get Started Today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194560"/>
            <a:ext cx="83484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58A6FF"/>
                </a:solidFill>
              </a:rPr>
              <a:t>Supercharge your repository with Continuous AI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2834640"/>
            <a:ext cx="8211313" cy="137160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944368"/>
            <a:ext cx="789127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79C0FF"/>
                </a:solidFill>
              </a:rPr>
              <a:t>gh extension install github/gh-aw
gh aw init
gh aw add-wizard githubnext/agentics/daily-repo-status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71432" y="182880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E6EDF3"/>
                </a:solidFill>
              </a:rPr>
              <a:t>🤖  AI-powered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71432" y="278892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E6EDF3"/>
                </a:solidFill>
              </a:rPr>
              <a:t>📝  Plain English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71432" y="374904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E6EDF3"/>
                </a:solidFill>
              </a:rPr>
              <a:t>🔒  Secure by design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71432" y="470916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E6EDF3"/>
                </a:solidFill>
              </a:rPr>
              <a:t>✅  Human in the loop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6446520"/>
            <a:ext cx="12188952" cy="18288"/>
          </a:xfrm>
          <a:prstGeom prst="rect">
            <a:avLst/>
          </a:prstGeom>
          <a:solidFill>
            <a:srgbClr val="303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6510528"/>
            <a:ext cx="114574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B949E"/>
                </a:solidFill>
              </a:rPr>
              <a:t>github.github.com/gh-aw   ·   githubnext.com/projects/continuous-ai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