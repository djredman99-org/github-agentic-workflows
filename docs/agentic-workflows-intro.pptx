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73152"/>
            <a:ext cx="3474720" cy="678484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863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E6EDF3"/>
                </a:solidFill>
              </a:rPr>
              <a:t>GitHub Agentic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7863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58A6FF"/>
                </a:solidFill>
              </a:rPr>
              <a:t>An Introduction to Continuous AI in Your Repository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798B9A"/>
                </a:solidFill>
              </a:rPr>
              <a:t>Automate the un-automatable with AI-powered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88552" y="137160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⚙  CI / CD
🤖  Continuous AI
📝  Natural Language
🔒  Built-in 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E6EDF3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60120"/>
            <a:ext cx="1371600" cy="36576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6EDF3"/>
                </a:solidFill>
              </a:rPr>
              <a:t>01  What Are Agentic Workflows?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41732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02  The Concept of Continuous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1460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03  How Agentic Workflows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51460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6517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04  Key Use Cases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4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862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05  Security &amp; Guardrails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374904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38862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06  Setting Up Your First Agentic Workflow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8348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1206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07  CLI Command Reference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4983480"/>
            <a:ext cx="5029200" cy="100584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51206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08  Resources &amp; Further Reading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9D353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EDF3"/>
                </a:solidFill>
              </a:rPr>
              <a:t>What Are Agentic Workflows?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743200" cy="36576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6EDF3"/>
                </a:solidFill>
              </a:rPr>
              <a:t>Agentic Workflows let you define repository automation as natural language instructions—rather than fixed scripts or YAML files. AI-powered agents interpret your intent, understand repository context, make decisions, and take specific actions within the guardrails of GitHub Actions.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11064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>
                <a:solidFill>
                  <a:srgbClr val="E6EDF3"/>
                </a:solidFill>
              </a:rPr>
              <a:t>  •  Natural language programming  –  describe desired behavior in plain English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6EDF3"/>
                </a:solidFill>
              </a:rPr>
              <a:t>  •  AI reasoning &amp; adaptation  –  agents interpret intent and adapt to repo context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6EDF3"/>
                </a:solidFill>
              </a:rPr>
              <a:t>  •  GitHub Actions integration  –  compiled to standard Actions workflows with full logging</a:t>
            </a:r>
          </a:p>
          <a:p>
            <a:pPr>
              <a:spcBef>
                <a:spcPts val="400"/>
              </a:spcBef>
            </a:pPr>
            <a:r>
              <a:rPr sz="1700">
                <a:solidFill>
                  <a:srgbClr val="E6EDF3"/>
                </a:solidFill>
              </a:rPr>
              <a:t>  •  Security built-in  –  read-only tokens, network restrictions, safe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EDF3"/>
                </a:solidFill>
              </a:rPr>
              <a:t>The Concept of Continuous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743200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161B22"/>
          </a:solidFill>
          <a:ln w="25400">
            <a:solidFill>
              <a:srgbClr val="39D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9D353"/>
                </a:solidFill>
              </a:rPr>
              <a:t>CI / CD  (Traditional)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5120640" cy="27432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Deterministic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Same output given the same input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Build → Test → Deploy pipelines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Scripted with YAML / shell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Excels at repeatable, predictable tasks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486400" cy="411480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58A6FF"/>
                </a:solidFill>
              </a:rPr>
              <a:t>Continuous AI  (New Layer)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874519"/>
            <a:ext cx="512064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96596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Non-deterministic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Context-aware, judgment-driven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Triage → Document → Investigate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Described in plain English Markdown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E6EDF3"/>
                </a:solidFill>
              </a:rPr>
              <a:t>  •  Excels at tasks that resist scripting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798B9A"/>
                </a:solidFill>
              </a:rPr>
              <a:t>Continuous AI is a new automation layer alongside CI/CD—not a replacement.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C8CFF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EDF3"/>
                </a:solidFill>
              </a:rPr>
              <a:t>How Agentic Workflows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743200" cy="36576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51760" cy="4206240"/>
          </a:xfrm>
          <a:prstGeom prst="rect">
            <a:avLst/>
          </a:prstGeom>
          <a:solidFill>
            <a:srgbClr val="161B22"/>
          </a:solidFill>
          <a:ln w="25400">
            <a:solidFill>
              <a:srgbClr val="39D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9D353"/>
                </a:solidFill>
              </a:rPr>
              <a:t>1  Define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2377440" cy="27432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Write an automation intent as a Markdown file in plain English. Frontmatter YAML specifies triggers, permissions, and the AI engine.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1820" y="31089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798B9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71600"/>
            <a:ext cx="2651760" cy="420624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4630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58A6FF"/>
                </a:solidFill>
              </a:rPr>
              <a:t>2  Compile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2011680"/>
            <a:ext cx="2377440" cy="2743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10312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The gh-aw CLI converts the Markdown workflow into a standard GitHub Actions YAML file, retaining versioning and audit logs.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2180" y="31089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798B9A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371600"/>
            <a:ext cx="2651760" cy="4206240"/>
          </a:xfrm>
          <a:prstGeom prst="rect">
            <a:avLst/>
          </a:prstGeom>
          <a:solidFill>
            <a:srgbClr val="161B22"/>
          </a:solidFill>
          <a:ln w="254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4630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BC8CFF"/>
                </a:solidFill>
              </a:rPr>
              <a:t>3  Execute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011680"/>
            <a:ext cx="2377440" cy="27432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10312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The workflow runs on repository events or schedules, invoking the chosen AI agent (Copilot, Claude, or Codex) in a sandboxed container.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92540" y="310896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798B9A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1371600"/>
            <a:ext cx="2651760" cy="4206240"/>
          </a:xfrm>
          <a:prstGeom prst="rect">
            <a:avLst/>
          </a:prstGeom>
          <a:solidFill>
            <a:srgbClr val="161B22"/>
          </a:solidFill>
          <a:ln w="25400">
            <a:solidFill>
              <a:srgbClr val="F78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146304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78A31"/>
                </a:solidFill>
              </a:rPr>
              <a:t>4 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011680"/>
            <a:ext cx="2377440" cy="27432"/>
          </a:xfrm>
          <a:prstGeom prst="rect">
            <a:avLst/>
          </a:prstGeom>
          <a:solidFill>
            <a:srgbClr val="F78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03120"/>
            <a:ext cx="2377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Agent decisions surface as pull requests or issues. Human maintainers review and approve before any code is merged or secrets are accessed.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8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78A31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EDF3"/>
                </a:solidFill>
              </a:rPr>
              <a:t>Key Use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828800" cy="36576"/>
          </a:xfrm>
          <a:prstGeom prst="rect">
            <a:avLst/>
          </a:prstGeom>
          <a:solidFill>
            <a:srgbClr val="F78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3566160" cy="1828800"/>
          </a:xfrm>
          <a:prstGeom prst="rect">
            <a:avLst/>
          </a:prstGeom>
          <a:solidFill>
            <a:srgbClr val="161B22"/>
          </a:solidFill>
          <a:ln w="19050">
            <a:solidFill>
              <a:srgbClr val="39D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🗂  Continuous Triage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Automatically summarize, label, and route new issues. Reduce maintainer toil by categorizing bug reports, feature requests, and questions.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24528" y="1371600"/>
            <a:ext cx="3566160" cy="18288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1688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📄  Continuous Documentation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1920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Keep docs aligned as code changes. Detect documentation drift and open pull requests with suggested updates when APIs or behaviour changes.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1856" y="1371600"/>
            <a:ext cx="3566160" cy="1828800"/>
          </a:xfrm>
          <a:prstGeom prst="rect">
            <a:avLst/>
          </a:prstGeom>
          <a:solidFill>
            <a:srgbClr val="161B22"/>
          </a:solidFill>
          <a:ln w="1905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9016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C8CFF"/>
                </a:solidFill>
              </a:rPr>
              <a:t>🧪  Test Improvement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9016" y="19202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Identify test-coverage gaps and suggest or write new tests. Run coverage analysis and propose targeted tests for untested code paths.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3566160" cy="1828800"/>
          </a:xfrm>
          <a:prstGeom prst="rect">
            <a:avLst/>
          </a:prstGeom>
          <a:solidFill>
            <a:srgbClr val="161B22"/>
          </a:solidFill>
          <a:ln w="19050">
            <a:solidFill>
              <a:srgbClr val="F78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🔍  Quality Hygiene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319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Investigate CI failures and propose targeted fixes. Summarize flaky tests, dead code, and dependency drift with actionable remediation steps.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3383280"/>
            <a:ext cx="3566160" cy="1828800"/>
          </a:xfrm>
          <a:prstGeom prst="rect">
            <a:avLst/>
          </a:prstGeom>
          <a:solidFill>
            <a:srgbClr val="161B22"/>
          </a:solidFill>
          <a:ln w="19050">
            <a:solidFill>
              <a:srgbClr val="39D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61688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📦  Dependency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9319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Proactively review dependency updates and summarize breaking changes, flagging security vulnerabilities before they reach production.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1856" y="3383280"/>
            <a:ext cx="3566160" cy="1828800"/>
          </a:xfrm>
          <a:prstGeom prst="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9016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💬  PR Summaries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393192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6EDF3"/>
                </a:solidFill>
              </a:rPr>
              <a:t>Generate clear, concise pull-request summaries and changelogs so that reviewers can quickly understand the scope and intent of each PR.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9D353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EDF3"/>
                </a:solidFill>
              </a:rPr>
              <a:t>Security &amp; Guardrails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286000" cy="36576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106984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🔐  Read-only by 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46304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Agents cannot push code or open PRs directly. All writes must go through "safe outputs" that are separated from raw AI responses and reviewed by humans.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106984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🧱  Sandboxed Containers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2316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Agentic workflows execute inside containers with network firewalls. This reduces the risk of credential exfiltration or prompt-injection attacks.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106984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👤  Human-in-the-Loop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38328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Every consequential decision surfaces as a pull request or issue that a human maintainer must review and approve before it takes effect.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51960"/>
            <a:ext cx="106984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🔑  No Direct Secret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34340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AI agents never see repository secrets directly. Secrets are injected only into the safe-output step after human review, not into the AI reasoning step.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12080"/>
            <a:ext cx="10698480" cy="8229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2578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📋  Full Audit Trail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53035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Because agentic workflows compile to standard GitHub Actions YAML, every run is logged, versioned, and auditable just like any other Actions workflow.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Setting Up Your First Agentic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48840" cy="4754880"/>
          </a:xfrm>
          <a:prstGeom prst="rect">
            <a:avLst/>
          </a:prstGeom>
          <a:solidFill>
            <a:srgbClr val="161B22"/>
          </a:solidFill>
          <a:ln w="25400">
            <a:solidFill>
              <a:srgbClr val="39D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148840" cy="411480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117"/>
                </a:solidFill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Prerequisites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31720"/>
            <a:ext cx="1965960" cy="3566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1691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9D353"/>
                </a:solidFill>
              </a:rPr>
              <a:t>• GitHub repository with Actions enabled
• GitHub CLI (gh) v2.0.0+
• AI API key  (Copilot, Anthropic, or OpenAI)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1371600"/>
            <a:ext cx="2148840" cy="475488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1760" y="1371600"/>
            <a:ext cx="2148840" cy="41148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137160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117"/>
                </a:solidFill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8288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8A6FF"/>
                </a:solidFill>
              </a:rPr>
              <a:t>Install the CLI Extension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331720"/>
            <a:ext cx="1965960" cy="3566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2423160"/>
            <a:ext cx="1691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9D353"/>
                </a:solidFill>
              </a:rPr>
              <a:t>gh extension install github/gh-aw
Verify:  gh aw --version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1371600"/>
            <a:ext cx="2148840" cy="4754880"/>
          </a:xfrm>
          <a:prstGeom prst="rect">
            <a:avLst/>
          </a:prstGeom>
          <a:solidFill>
            <a:srgbClr val="161B22"/>
          </a:solidFill>
          <a:ln w="254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37760" y="1371600"/>
            <a:ext cx="2148840" cy="411480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37160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117"/>
                </a:solidFill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18288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C8CFF"/>
                </a:solidFill>
              </a:rPr>
              <a:t>Initialise the Repository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2331720"/>
            <a:ext cx="1965960" cy="3566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2423160"/>
            <a:ext cx="1691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9D353"/>
                </a:solidFill>
              </a:rPr>
              <a:t>cd your-repo
gh aw init
This creates .github/agents/ and sets up permissions.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1371600"/>
            <a:ext cx="2148840" cy="4754880"/>
          </a:xfrm>
          <a:prstGeom prst="rect">
            <a:avLst/>
          </a:prstGeom>
          <a:solidFill>
            <a:srgbClr val="161B22"/>
          </a:solidFill>
          <a:ln w="25400">
            <a:solidFill>
              <a:srgbClr val="F78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23760" y="1371600"/>
            <a:ext cx="2148840" cy="411480"/>
          </a:xfrm>
          <a:prstGeom prst="rect">
            <a:avLst/>
          </a:prstGeom>
          <a:solidFill>
            <a:srgbClr val="F78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137160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117"/>
                </a:solidFill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18288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Add a Sample Workflow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331720"/>
            <a:ext cx="1965960" cy="3566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2423160"/>
            <a:ext cx="1691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9D353"/>
                </a:solidFill>
              </a:rPr>
              <a:t>gh aw add-wizard \
  githubnext/agentics/daily-repo-status
Follow the wizard to choose your AI engine.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09760" y="1371600"/>
            <a:ext cx="2148840" cy="4754880"/>
          </a:xfrm>
          <a:prstGeom prst="rect">
            <a:avLst/>
          </a:prstGeom>
          <a:solidFill>
            <a:srgbClr val="161B22"/>
          </a:solidFill>
          <a:ln w="25400">
            <a:solidFill>
              <a:srgbClr val="39D3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1371600"/>
            <a:ext cx="2148840" cy="411480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1371600"/>
            <a:ext cx="1965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117"/>
                </a:solidFill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8288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9D353"/>
                </a:solidFill>
              </a:rPr>
              <a:t>Compile &amp; Run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2331720"/>
            <a:ext cx="1965960" cy="3566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2423160"/>
            <a:ext cx="1691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9D353"/>
                </a:solidFill>
              </a:rPr>
              <a:t>gh aw compile &lt;workflow-name&gt;
gh aw run   &lt;workflow-name&gt;
Check output in the Actions tab.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8A6FF"/>
                </a:solidFill>
              </a:rPr>
              <a:t>06  (continued)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6EDF3"/>
                </a:solidFill>
              </a:rPr>
              <a:t>Anatomy of an Agentic Workflow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657600" cy="36576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486400" cy="530352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98B9A"/>
                </a:solidFill>
              </a:rPr>
              <a:t>📄  .github/workflows/triage.md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3736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---
name: Continuous Triage
on:
  issues:
    types: [opened]
agent: copilot
permissions:
  issues: write
safe_outputs:
  - add_label
  - add_comment
---
# Goal
When a new issue is opened, read its title and body.
Add an appropriate label (bug, feature, question, or docs).
Leave a friendly comment acknowledging the report
and explaining next steps.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669280" cy="1508760"/>
          </a:xfrm>
          <a:prstGeom prst="rect">
            <a:avLst/>
          </a:prstGeom>
          <a:solidFill>
            <a:srgbClr val="161B22"/>
          </a:solidFill>
          <a:ln w="25400">
            <a:solidFill>
              <a:srgbClr val="F78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78A31"/>
                </a:solidFill>
              </a:rPr>
              <a:t>Frontmatter (YAML)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Defines trigger events, the AI engine to use, required permissions, and which safe outputs the agent may produce.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063240"/>
            <a:ext cx="5669280" cy="1508760"/>
          </a:xfrm>
          <a:prstGeom prst="rect">
            <a:avLst/>
          </a:prstGeom>
          <a:solidFill>
            <a:srgbClr val="161B22"/>
          </a:solidFill>
          <a:ln w="254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1546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8A6FF"/>
                </a:solidFill>
              </a:rPr>
              <a:t>Markdown Body (Plain English)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6616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Describes the agent's goal in natural language. No scripting required—the AI reads this and decides how to act.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754880"/>
            <a:ext cx="5669280" cy="1508760"/>
          </a:xfrm>
          <a:prstGeom prst="rect">
            <a:avLst/>
          </a:prstGeom>
          <a:solidFill>
            <a:srgbClr val="161B22"/>
          </a:solidFill>
          <a:ln w="25400"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8463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C8CFF"/>
                </a:solidFill>
              </a:rPr>
              <a:t>Safe 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25780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6EDF3"/>
                </a:solidFill>
              </a:rPr>
              <a:t>A whitelist of actions the agent may perform (e.g., add_label, add_comment). This prevents unintended side-effects.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C8CFF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EDF3"/>
                </a:solidFill>
              </a:rPr>
              <a:t>CLI Command Reference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286000" cy="36576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11247120" cy="38404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</a:rPr>
              <a:t>Command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5331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117"/>
                </a:solidFill>
              </a:rPr>
              <a:t>Description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09928"/>
            <a:ext cx="11247120" cy="4937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6479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extension install github/gh-aw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76479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Install the gh-aw CLI extension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21992"/>
            <a:ext cx="11247120" cy="4937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27685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init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27685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Initialise agentic workflows in a repository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34056"/>
            <a:ext cx="11247120" cy="4937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78892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add-wizard &lt;workflow&gt;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78892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Guided setup for a pre-built sample workflow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11247120" cy="4937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0098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add &lt;workflow&gt;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30098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Import a workflow non-interactively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58184"/>
            <a:ext cx="11247120" cy="4937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813048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81304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List all installed agentic workflows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70248"/>
            <a:ext cx="11247120" cy="4937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325112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compile &lt;workflow&gt;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432511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Compile a Markdown workflow to Actions YAML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782312"/>
            <a:ext cx="11247120" cy="4937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4837176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run &lt;workflow&gt;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83717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Manually trigger an agentic workflow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94376"/>
            <a:ext cx="11247120" cy="493776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534924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status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53492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Check the current state of all workflows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806440"/>
            <a:ext cx="11247120" cy="493776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861304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9D353"/>
                </a:solidFill>
              </a:rPr>
              <a:t>gh aw upgrade &lt;workflow&gt;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586130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6EDF3"/>
                </a:solidFill>
              </a:rPr>
              <a:t>Upgrade a workflow to the latest version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8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78A31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E6EDF3"/>
                </a:solidFill>
              </a:rPr>
              <a:t>Resources &amp; Further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200400" cy="36576"/>
          </a:xfrm>
          <a:prstGeom prst="rect">
            <a:avLst/>
          </a:prstGeom>
          <a:solidFill>
            <a:srgbClr val="F78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57784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🏠  Official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github.github.com/gh-aw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8B9A"/>
                </a:solidFill>
              </a:rPr>
              <a:t>Full reference, quick-start guide, CLI docs, and FAQ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371600"/>
            <a:ext cx="557784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🔬  GitHub Next — Continuous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githubnext.com/projects/continuous-ai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945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8B9A"/>
                </a:solidFill>
              </a:rPr>
              <a:t>Research project page explaining the Continuous AI concept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26080"/>
            <a:ext cx="557784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0175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📖  GitHub Blog Announcement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429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github.blog/ai-and-ml/automate-repository-tasks-with-github-agentic-workflows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749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8B9A"/>
                </a:solidFill>
              </a:rPr>
              <a:t>Introducing Agentic Workflows — the original announcement post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26080"/>
            <a:ext cx="557784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30175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🛠  gh-aw GitHub Repository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429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github.com/github/gh-aw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749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8B9A"/>
                </a:solidFill>
              </a:rPr>
              <a:t>Source code, issues, and community contributions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80560"/>
            <a:ext cx="557784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5720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📚  Quick Start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983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github.github.com/gh-aw/setup/quick-start/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03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8B9A"/>
                </a:solidFill>
              </a:rPr>
              <a:t>Step-by-step walkthrough to your first agentic workflow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80560"/>
            <a:ext cx="5577840" cy="13716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5720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78A31"/>
                </a:solidFill>
              </a:rPr>
              <a:t>⌨️  CLI Command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983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8A6FF"/>
                </a:solidFill>
              </a:rPr>
              <a:t>github.github.com/gh-aw/setup/cli/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3035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98B9A"/>
                </a:solidFill>
              </a:rPr>
              <a:t>Complete reference for all gh-aw CLI commands and flags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9D3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73152"/>
            <a:ext cx="3474720" cy="6784848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7863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6EDF3"/>
                </a:solidFill>
              </a:rPr>
              <a:t>Get Started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8A6FF"/>
                </a:solidFill>
              </a:rPr>
              <a:t>Supercharge your repository with Continuous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9D353"/>
                </a:solidFill>
              </a:rPr>
              <a:t>gh extension install github/gh-aw
gh aw init
gh aw add-wizard githubnext/agentics/daily-repo-status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88552" y="137160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E6EDF3"/>
                </a:solidFill>
              </a:rPr>
              <a:t>🤖  AI-powered
📝  Plain English
🔒  Secure by design
✅  Human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161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98B9A"/>
                </a:solidFill>
              </a:rPr>
              <a:t>github.github.com/gh-aw   ·   githubnext.com/projects/continuous-ai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